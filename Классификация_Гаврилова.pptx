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7" r:id="rId4"/>
    <p:sldId id="272" r:id="rId5"/>
    <p:sldId id="300" r:id="rId6"/>
    <p:sldId id="280" r:id="rId7"/>
    <p:sldId id="301" r:id="rId8"/>
    <p:sldId id="293" r:id="rId9"/>
    <p:sldId id="294" r:id="rId10"/>
    <p:sldId id="262" r:id="rId11"/>
    <p:sldId id="282" r:id="rId12"/>
    <p:sldId id="283" r:id="rId13"/>
    <p:sldId id="297" r:id="rId14"/>
    <p:sldId id="284" r:id="rId15"/>
    <p:sldId id="285" r:id="rId16"/>
    <p:sldId id="298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Учетная запись Майкрософт" initials="УзМ" lastIdx="1" clrIdx="0">
    <p:extLst>
      <p:ext uri="{19B8F6BF-5375-455C-9EA6-DF929625EA0E}">
        <p15:presenceInfo xmlns:p15="http://schemas.microsoft.com/office/powerpoint/2012/main" userId="72b184128114316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920E3-F697-4F91-ABFC-64FAAC605217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DE118-271E-4F0C-A961-513B5C88C3F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73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DE118-271E-4F0C-A961-513B5C88C3F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550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DE118-271E-4F0C-A961-513B5C88C3F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748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35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52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33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64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62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738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7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2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52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61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85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CC2E9-0FFE-44E4-AF7D-488D0288A685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48730-743A-43FD-AEC8-61F66CBC5A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19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amadeti.ru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Классификация </a:t>
            </a:r>
            <a:br>
              <a:rPr lang="ru-RU" dirty="0" smtClean="0"/>
            </a:br>
            <a:r>
              <a:rPr lang="ru-RU" dirty="0" smtClean="0"/>
              <a:t>обращений пациентов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611736" y="4352663"/>
            <a:ext cx="2506639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ДПО КЛ 2025</a:t>
            </a:r>
          </a:p>
          <a:p>
            <a:pPr algn="l"/>
            <a:r>
              <a:rPr lang="ru-RU" dirty="0" smtClean="0"/>
              <a:t>Гаврилова Т.В.</a:t>
            </a:r>
          </a:p>
          <a:p>
            <a:pPr algn="l"/>
            <a:endParaRPr lang="ru-RU" dirty="0"/>
          </a:p>
          <a:p>
            <a:pPr algn="l"/>
            <a:r>
              <a:rPr lang="ru-RU" dirty="0" smtClean="0"/>
              <a:t>21 февраля 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84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Описание проекта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595152"/>
            <a:ext cx="100254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Задача – сравнение методов для построения классификатора, </a:t>
            </a:r>
            <a:r>
              <a:rPr lang="ru-RU" dirty="0" smtClean="0"/>
              <a:t>который можно использовать (например, в чат-боте) для </a:t>
            </a:r>
            <a:r>
              <a:rPr lang="ru-RU" dirty="0" smtClean="0"/>
              <a:t>определения, </a:t>
            </a:r>
            <a:r>
              <a:rPr lang="ru-RU" dirty="0" smtClean="0"/>
              <a:t>с каким запросом обращается </a:t>
            </a:r>
            <a:r>
              <a:rPr lang="ru-RU" dirty="0" smtClean="0"/>
              <a:t>пациент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Специфика данных – категории внутри одной специализированной </a:t>
            </a:r>
            <a:r>
              <a:rPr lang="ru-RU" dirty="0"/>
              <a:t>медицинской </a:t>
            </a:r>
            <a:r>
              <a:rPr lang="ru-RU" dirty="0" smtClean="0"/>
              <a:t>области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3072480"/>
            <a:ext cx="39248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Гипотеза:</a:t>
            </a:r>
          </a:p>
          <a:p>
            <a:endParaRPr lang="ru-RU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Добавление биграмм в признаки текстов поможет улучшить качество классификации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257800" y="307248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Этапы:</a:t>
            </a:r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Предобработка текстов обращений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Визуализация данных (</a:t>
            </a:r>
            <a:r>
              <a:rPr lang="en-US" dirty="0"/>
              <a:t>TSNE)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Классификация</a:t>
            </a:r>
            <a:r>
              <a:rPr lang="en-US" dirty="0"/>
              <a:t> </a:t>
            </a:r>
            <a:r>
              <a:rPr lang="ru-RU" dirty="0"/>
              <a:t>(сравнение </a:t>
            </a:r>
            <a:r>
              <a:rPr lang="ru-RU" dirty="0" smtClean="0"/>
              <a:t>моделей)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Выводы</a:t>
            </a:r>
          </a:p>
        </p:txBody>
      </p:sp>
    </p:spTree>
    <p:extLst>
      <p:ext uri="{BB962C8B-B14F-4D97-AF65-F5344CB8AC3E}">
        <p14:creationId xmlns:p14="http://schemas.microsoft.com/office/powerpoint/2010/main" val="244049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Данные</a:t>
            </a:r>
            <a:endParaRPr lang="ru-RU" sz="1800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01625"/>
            <a:ext cx="2546445" cy="225617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04969"/>
            <a:ext cx="2457793" cy="1676634"/>
          </a:xfrm>
          <a:prstGeom prst="rect">
            <a:avLst/>
          </a:prstGeom>
        </p:spPr>
      </p:pic>
      <p:sp>
        <p:nvSpPr>
          <p:cNvPr id="15" name="Скругленный прямоугольник 14"/>
          <p:cNvSpPr/>
          <p:nvPr/>
        </p:nvSpPr>
        <p:spPr>
          <a:xfrm>
            <a:off x="838200" y="4309507"/>
            <a:ext cx="2341728" cy="797882"/>
          </a:xfrm>
          <a:prstGeom prst="roundRect">
            <a:avLst/>
          </a:prstGeom>
          <a:solidFill>
            <a:schemeClr val="accent2">
              <a:alpha val="3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38200" y="3503042"/>
            <a:ext cx="237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Фильтр по категориям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47847" y="5699691"/>
            <a:ext cx="548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Датасет</a:t>
            </a:r>
            <a:r>
              <a:rPr lang="ru-RU" dirty="0" smtClean="0"/>
              <a:t> для проекта</a:t>
            </a:r>
            <a:r>
              <a:rPr lang="en-US" dirty="0" smtClean="0"/>
              <a:t> </a:t>
            </a:r>
            <a:r>
              <a:rPr lang="ru-RU" dirty="0" smtClean="0"/>
              <a:t>- 1708 обращений в 4 категориях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47" y="2168803"/>
            <a:ext cx="7969155" cy="3360555"/>
          </a:xfrm>
          <a:prstGeom prst="rect">
            <a:avLst/>
          </a:prstGeom>
        </p:spPr>
      </p:pic>
      <p:sp>
        <p:nvSpPr>
          <p:cNvPr id="9" name="Скругленный прямоугольник 8"/>
          <p:cNvSpPr/>
          <p:nvPr/>
        </p:nvSpPr>
        <p:spPr>
          <a:xfrm>
            <a:off x="3547847" y="5279375"/>
            <a:ext cx="541572" cy="249983"/>
          </a:xfrm>
          <a:prstGeom prst="roundRect">
            <a:avLst/>
          </a:prstGeom>
          <a:solidFill>
            <a:schemeClr val="accent2">
              <a:alpha val="3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547847" y="1398300"/>
            <a:ext cx="6560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«Мать и дитя» — российская сеть частных медицинских клиник</a:t>
            </a:r>
            <a:r>
              <a:rPr lang="ru-RU" dirty="0" smtClean="0"/>
              <a:t>,</a:t>
            </a:r>
          </a:p>
          <a:p>
            <a:r>
              <a:rPr lang="ru-RU" dirty="0" smtClean="0"/>
              <a:t> специализирующихся </a:t>
            </a:r>
            <a:r>
              <a:rPr lang="ru-RU" dirty="0"/>
              <a:t>на акушерстве, гинекологии и </a:t>
            </a:r>
            <a:r>
              <a:rPr lang="ru-RU" dirty="0" smtClean="0"/>
              <a:t>педиатрии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779860" y="843240"/>
            <a:ext cx="77371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Источник - сайт </a:t>
            </a:r>
            <a:r>
              <a:rPr lang="en-US" i="1" dirty="0">
                <a:hlinkClick r:id="rId5"/>
              </a:rPr>
              <a:t>https://mamadeti.ru/</a:t>
            </a:r>
            <a:r>
              <a:rPr lang="en-US" i="1" dirty="0"/>
              <a:t> </a:t>
            </a:r>
            <a:r>
              <a:rPr lang="ru-RU" i="1" dirty="0"/>
              <a:t>, раздел Пациентам, Вопрос-Ответ</a:t>
            </a:r>
          </a:p>
        </p:txBody>
      </p:sp>
    </p:spTree>
    <p:extLst>
      <p:ext uri="{BB962C8B-B14F-4D97-AF65-F5344CB8AC3E}">
        <p14:creationId xmlns:p14="http://schemas.microsoft.com/office/powerpoint/2010/main" val="65404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Подготовка данных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2" y="3336157"/>
            <a:ext cx="5992061" cy="310558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918" y="3921094"/>
            <a:ext cx="4592882" cy="23705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0918" y="1442713"/>
            <a:ext cx="4592882" cy="24152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1572862"/>
            <a:ext cx="5866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Очистка текста от лишних символов и пробелов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Удаление </a:t>
            </a:r>
            <a:r>
              <a:rPr lang="ru-RU" dirty="0" smtClean="0"/>
              <a:t>стоп-слов</a:t>
            </a:r>
            <a:r>
              <a:rPr lang="en-US" dirty="0" smtClean="0"/>
              <a:t> (</a:t>
            </a:r>
            <a:r>
              <a:rPr lang="ru-RU" dirty="0" smtClean="0"/>
              <a:t>расширенный список)</a:t>
            </a:r>
            <a:endParaRPr lang="ru-RU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err="1" smtClean="0"/>
              <a:t>Лемматизация</a:t>
            </a:r>
            <a:r>
              <a:rPr lang="ru-RU" dirty="0" smtClean="0"/>
              <a:t> </a:t>
            </a:r>
            <a:r>
              <a:rPr lang="en-US" dirty="0" smtClean="0"/>
              <a:t>mystem3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155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Визуализация данных </a:t>
            </a:r>
            <a:r>
              <a:rPr lang="en-US" dirty="0"/>
              <a:t>TSNE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4992"/>
            <a:ext cx="4220164" cy="42201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689" y="1934992"/>
            <a:ext cx="4201111" cy="41344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764" y="1934992"/>
            <a:ext cx="1918471" cy="8844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3615" y="1506022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TF-IDF </a:t>
            </a:r>
            <a:r>
              <a:rPr lang="ru-RU" dirty="0" smtClean="0"/>
              <a:t>на </a:t>
            </a:r>
            <a:r>
              <a:rPr lang="ru-RU" dirty="0" err="1" smtClean="0"/>
              <a:t>униграммы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500200" y="1506022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TF-IDF </a:t>
            </a:r>
            <a:r>
              <a:rPr lang="ru-RU" dirty="0" smtClean="0"/>
              <a:t>на </a:t>
            </a:r>
            <a:r>
              <a:rPr lang="ru-RU" dirty="0" err="1" smtClean="0"/>
              <a:t>униграммы</a:t>
            </a:r>
            <a:r>
              <a:rPr lang="ru-RU" dirty="0" smtClean="0"/>
              <a:t> и биграммы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290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Использованные методы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87102" y="1883386"/>
            <a:ext cx="27334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LogisticRegression</a:t>
            </a:r>
            <a:r>
              <a:rPr lang="en-US" dirty="0" err="1"/>
              <a:t>Classifier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ComplementNB</a:t>
            </a:r>
            <a:endParaRPr lang="en-US" dirty="0"/>
          </a:p>
          <a:p>
            <a:endParaRPr lang="en-US" dirty="0"/>
          </a:p>
          <a:p>
            <a:r>
              <a:rPr lang="en-US" dirty="0" err="1" smtClean="0"/>
              <a:t>KNeighborsClassifier</a:t>
            </a:r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RandomForestClassifier</a:t>
            </a:r>
            <a:endParaRPr lang="ru-RU" dirty="0" smtClean="0"/>
          </a:p>
          <a:p>
            <a:endParaRPr lang="ru-RU" dirty="0"/>
          </a:p>
          <a:p>
            <a:r>
              <a:rPr lang="en-US" dirty="0" err="1"/>
              <a:t>GradientBoostingClassifier</a:t>
            </a:r>
            <a:endParaRPr lang="en-US" dirty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err="1" smtClean="0"/>
              <a:t>CatBoostClassifier</a:t>
            </a:r>
            <a:endParaRPr lang="ru-RU" i="1" dirty="0"/>
          </a:p>
        </p:txBody>
      </p:sp>
      <p:sp>
        <p:nvSpPr>
          <p:cNvPr id="7" name="TextBox 6"/>
          <p:cNvSpPr txBox="1"/>
          <p:nvPr/>
        </p:nvSpPr>
        <p:spPr>
          <a:xfrm>
            <a:off x="4954137" y="2292826"/>
            <a:ext cx="6399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подачи данных в </a:t>
            </a:r>
            <a:r>
              <a:rPr lang="ru-RU" dirty="0" smtClean="0"/>
              <a:t>модели</a:t>
            </a:r>
            <a:r>
              <a:rPr lang="en-US" dirty="0" smtClean="0"/>
              <a:t>:</a:t>
            </a:r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 smtClean="0"/>
              <a:t>TfidfVectorizer</a:t>
            </a:r>
            <a:r>
              <a:rPr lang="en-US" dirty="0" smtClean="0"/>
              <a:t>(</a:t>
            </a:r>
            <a:r>
              <a:rPr lang="en-US" dirty="0" err="1" smtClean="0"/>
              <a:t>max_df</a:t>
            </a:r>
            <a:r>
              <a:rPr lang="en-US" dirty="0" smtClean="0"/>
              <a:t> </a:t>
            </a:r>
            <a:r>
              <a:rPr lang="en-US" dirty="0"/>
              <a:t>= 0.8, </a:t>
            </a:r>
            <a:r>
              <a:rPr lang="en-US" dirty="0" err="1"/>
              <a:t>min_df</a:t>
            </a:r>
            <a:r>
              <a:rPr lang="en-US" dirty="0"/>
              <a:t> = </a:t>
            </a:r>
            <a:r>
              <a:rPr lang="en-US" dirty="0" smtClean="0"/>
              <a:t>3)</a:t>
            </a:r>
            <a:r>
              <a:rPr lang="ru-RU" dirty="0" smtClean="0"/>
              <a:t> </a:t>
            </a:r>
            <a:r>
              <a:rPr lang="ru-RU" dirty="0" smtClean="0"/>
              <a:t>для </a:t>
            </a:r>
            <a:r>
              <a:rPr lang="ru-RU" dirty="0" err="1" smtClean="0"/>
              <a:t>униграмм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TfidfVectorizer</a:t>
            </a:r>
            <a:r>
              <a:rPr lang="en-US" dirty="0"/>
              <a:t>(</a:t>
            </a:r>
            <a:r>
              <a:rPr lang="en-US" dirty="0" err="1"/>
              <a:t>ngram_range</a:t>
            </a:r>
            <a:r>
              <a:rPr lang="en-US" dirty="0"/>
              <a:t>=(1, 2), </a:t>
            </a:r>
            <a:r>
              <a:rPr lang="en-US" dirty="0" err="1"/>
              <a:t>max_df</a:t>
            </a:r>
            <a:r>
              <a:rPr lang="en-US" dirty="0"/>
              <a:t> = 0.8, </a:t>
            </a:r>
            <a:r>
              <a:rPr lang="en-US" dirty="0" err="1"/>
              <a:t>min_df</a:t>
            </a:r>
            <a:r>
              <a:rPr lang="en-US" dirty="0"/>
              <a:t> = </a:t>
            </a:r>
            <a:r>
              <a:rPr lang="en-US" dirty="0" smtClean="0"/>
              <a:t>3)</a:t>
            </a:r>
            <a:r>
              <a:rPr lang="ru-RU" dirty="0" smtClean="0"/>
              <a:t> </a:t>
            </a:r>
            <a:r>
              <a:rPr lang="ru-RU" dirty="0" smtClean="0"/>
              <a:t>для </a:t>
            </a:r>
            <a:r>
              <a:rPr lang="ru-RU" dirty="0" err="1" smtClean="0"/>
              <a:t>униграммы+биграммы</a:t>
            </a:r>
            <a:endParaRPr lang="en-US" dirty="0"/>
          </a:p>
        </p:txBody>
      </p:sp>
      <p:sp>
        <p:nvSpPr>
          <p:cNvPr id="9" name="Левая фигурная скобка 8"/>
          <p:cNvSpPr/>
          <p:nvPr/>
        </p:nvSpPr>
        <p:spPr>
          <a:xfrm>
            <a:off x="3916907" y="2088107"/>
            <a:ext cx="545911" cy="221093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4954137" y="4908675"/>
            <a:ext cx="6399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</a:t>
            </a:r>
            <a:r>
              <a:rPr lang="en-US" dirty="0" err="1" smtClean="0"/>
              <a:t>CatBoost</a:t>
            </a:r>
            <a:r>
              <a:rPr lang="ru-RU" dirty="0" smtClean="0"/>
              <a:t> подавался сырой текст обращений одновременно с </a:t>
            </a:r>
            <a:r>
              <a:rPr lang="ru-RU" dirty="0" err="1" smtClean="0"/>
              <a:t>лемматизированным</a:t>
            </a:r>
            <a:r>
              <a:rPr lang="ru-RU" dirty="0" smtClean="0"/>
              <a:t> </a:t>
            </a:r>
            <a:r>
              <a:rPr lang="ru-RU" dirty="0" smtClean="0"/>
              <a:t>текстом, и </a:t>
            </a:r>
            <a:r>
              <a:rPr lang="ru-RU" dirty="0" smtClean="0"/>
              <a:t>включалась настройка с биграммами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228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75" y="1638103"/>
            <a:ext cx="4937432" cy="229680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446" y="4018799"/>
            <a:ext cx="4758290" cy="2228400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38" y="4018799"/>
            <a:ext cx="4748615" cy="222840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992" y="1616192"/>
            <a:ext cx="4766400" cy="229592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Результаты классификации 1, 2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380931" y="3575711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380931" y="5936059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0087970" y="3604349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10072980" y="5924989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797792" y="5073723"/>
            <a:ext cx="2019868" cy="178513"/>
          </a:xfrm>
          <a:prstGeom prst="roundRect">
            <a:avLst/>
          </a:prstGeom>
          <a:solidFill>
            <a:schemeClr val="accent6">
              <a:alpha val="3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504831" y="5077761"/>
            <a:ext cx="2019868" cy="178513"/>
          </a:xfrm>
          <a:prstGeom prst="roundRect">
            <a:avLst/>
          </a:prstGeom>
          <a:solidFill>
            <a:schemeClr val="accent6">
              <a:alpha val="3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04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887" y="4071229"/>
            <a:ext cx="4881933" cy="2372400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00" y="4033149"/>
            <a:ext cx="4873336" cy="227880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831" y="1450792"/>
            <a:ext cx="4971989" cy="23184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18" y="1495762"/>
            <a:ext cx="4882278" cy="23184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классификации </a:t>
            </a:r>
            <a:r>
              <a:rPr lang="ru-RU" dirty="0" smtClean="0"/>
              <a:t>3, 4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838735" y="2584417"/>
            <a:ext cx="2019868" cy="178513"/>
          </a:xfrm>
          <a:prstGeom prst="roundRect">
            <a:avLst/>
          </a:prstGeom>
          <a:solidFill>
            <a:schemeClr val="accent6">
              <a:alpha val="3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463887" y="2571483"/>
            <a:ext cx="2019868" cy="178513"/>
          </a:xfrm>
          <a:prstGeom prst="roundRect">
            <a:avLst/>
          </a:prstGeom>
          <a:solidFill>
            <a:schemeClr val="accent6">
              <a:alpha val="3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421874" y="3455006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0060674" y="3455006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367283" y="5999505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0047026" y="6090355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98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382" y="1584644"/>
            <a:ext cx="4755816" cy="221760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64" y="1573844"/>
            <a:ext cx="4834954" cy="2228400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73095"/>
            <a:ext cx="4816620" cy="21856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классификации </a:t>
            </a:r>
            <a:r>
              <a:rPr lang="ru-RU" dirty="0" smtClean="0"/>
              <a:t>5, 6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454" y="4207029"/>
            <a:ext cx="4778326" cy="2082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8200" y="4090290"/>
            <a:ext cx="452175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CatBoost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на «сырых»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‘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question_text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’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texts_lemmatized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’ 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5392" y="4103938"/>
            <a:ext cx="474136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CatBoost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на 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‘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question_text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 + ’</a:t>
            </a:r>
            <a:r>
              <a:rPr lang="en-US" sz="1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texts_lemmatized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 + </a:t>
            </a:r>
            <a:r>
              <a:rPr lang="ru-RU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биграммы</a:t>
            </a: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421874" y="3509598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0006083" y="3519760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394578" y="5982117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10115264" y="5982117"/>
            <a:ext cx="436729" cy="2183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44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921248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Лучший результат среди рассмотренных методов (по </a:t>
            </a:r>
            <a:r>
              <a:rPr lang="en-US" dirty="0" smtClean="0"/>
              <a:t>weighted </a:t>
            </a:r>
            <a:r>
              <a:rPr lang="en-US" dirty="0" err="1" smtClean="0"/>
              <a:t>avg</a:t>
            </a:r>
            <a:r>
              <a:rPr lang="en-US" dirty="0" smtClean="0"/>
              <a:t> </a:t>
            </a:r>
            <a:r>
              <a:rPr lang="en-US" dirty="0"/>
              <a:t>f1</a:t>
            </a:r>
            <a:r>
              <a:rPr lang="ru-RU" dirty="0"/>
              <a:t> </a:t>
            </a:r>
            <a:r>
              <a:rPr lang="en-US" dirty="0"/>
              <a:t>=</a:t>
            </a:r>
            <a:r>
              <a:rPr lang="en-US" dirty="0" smtClean="0"/>
              <a:t>0,84</a:t>
            </a:r>
            <a:r>
              <a:rPr lang="ru-RU" dirty="0" smtClean="0"/>
              <a:t>) </a:t>
            </a:r>
            <a:r>
              <a:rPr lang="ru-RU" dirty="0" smtClean="0"/>
              <a:t>показали модели:</a:t>
            </a:r>
          </a:p>
          <a:p>
            <a:pPr lvl="1"/>
            <a:r>
              <a:rPr lang="en-US" dirty="0" err="1" smtClean="0"/>
              <a:t>LogisticRegression</a:t>
            </a:r>
            <a:r>
              <a:rPr lang="en-US" dirty="0" smtClean="0"/>
              <a:t> </a:t>
            </a:r>
            <a:r>
              <a:rPr lang="en-US" dirty="0" smtClean="0"/>
              <a:t>+ </a:t>
            </a:r>
            <a:r>
              <a:rPr lang="en-US" dirty="0" err="1" smtClean="0"/>
              <a:t>tf-idf</a:t>
            </a:r>
            <a:r>
              <a:rPr lang="en-US" dirty="0" smtClean="0"/>
              <a:t> </a:t>
            </a:r>
            <a:r>
              <a:rPr lang="en-US" dirty="0" smtClean="0"/>
              <a:t>c </a:t>
            </a:r>
            <a:r>
              <a:rPr lang="ru-RU" dirty="0" smtClean="0"/>
              <a:t>биграммами</a:t>
            </a:r>
          </a:p>
          <a:p>
            <a:pPr lvl="1"/>
            <a:r>
              <a:rPr lang="en-US" dirty="0" err="1" smtClean="0"/>
              <a:t>ComplementNB</a:t>
            </a:r>
            <a:r>
              <a:rPr lang="en-US" dirty="0" smtClean="0"/>
              <a:t> + </a:t>
            </a:r>
            <a:r>
              <a:rPr lang="en-US" dirty="0" err="1" smtClean="0"/>
              <a:t>tf-idf</a:t>
            </a:r>
            <a:r>
              <a:rPr lang="en-US" dirty="0" smtClean="0"/>
              <a:t> c </a:t>
            </a:r>
            <a:r>
              <a:rPr lang="ru-RU" dirty="0" smtClean="0"/>
              <a:t>биграммами</a:t>
            </a:r>
          </a:p>
          <a:p>
            <a:pPr lvl="2"/>
            <a:endParaRPr lang="ru-RU" dirty="0" smtClean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Добавление </a:t>
            </a:r>
            <a:r>
              <a:rPr lang="ru-RU" dirty="0"/>
              <a:t>биграмм в признаки текстов </a:t>
            </a:r>
            <a:r>
              <a:rPr lang="ru-RU" dirty="0" smtClean="0"/>
              <a:t>помогло улучшить качество классификации, однако не дало существенного </a:t>
            </a:r>
            <a:r>
              <a:rPr lang="ru-RU" dirty="0"/>
              <a:t>увеличения </a:t>
            </a:r>
            <a:r>
              <a:rPr lang="ru-RU" dirty="0" smtClean="0"/>
              <a:t>метрики </a:t>
            </a:r>
            <a:r>
              <a:rPr lang="en-US" dirty="0" smtClean="0"/>
              <a:t>f1 weighted </a:t>
            </a:r>
            <a:r>
              <a:rPr lang="en-US" dirty="0" err="1" smtClean="0"/>
              <a:t>avg</a:t>
            </a:r>
            <a:r>
              <a:rPr lang="ru-RU" dirty="0" smtClean="0"/>
              <a:t>, т.к. не решило проблему </a:t>
            </a:r>
            <a:r>
              <a:rPr lang="ru-RU" dirty="0"/>
              <a:t>с </a:t>
            </a:r>
            <a:r>
              <a:rPr lang="ru-RU" dirty="0" smtClean="0"/>
              <a:t>крупной категорией Гинекология, которую все представленные модели определяли хуже остальных категорий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 smtClean="0"/>
              <a:t>В некоторых случаях добавление биграмм привело к заметному увеличению </a:t>
            </a:r>
            <a:r>
              <a:rPr lang="en-US" dirty="0" smtClean="0"/>
              <a:t>f1 </a:t>
            </a:r>
            <a:r>
              <a:rPr lang="en-US" dirty="0"/>
              <a:t>score</a:t>
            </a:r>
            <a:r>
              <a:rPr lang="ru-RU" dirty="0"/>
              <a:t> по категории </a:t>
            </a:r>
            <a:r>
              <a:rPr lang="ru-RU" dirty="0" smtClean="0"/>
              <a:t>Педиатрия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1138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LogisticRegression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484" y="1611298"/>
            <a:ext cx="3381847" cy="162900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753" y="1649403"/>
            <a:ext cx="3419952" cy="15908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357" y="3430160"/>
            <a:ext cx="4525006" cy="290553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497" y="3430160"/>
            <a:ext cx="4467849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3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688" y="3971024"/>
            <a:ext cx="3934374" cy="2448267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26" y="3937338"/>
            <a:ext cx="4010585" cy="2486372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090" y="1354746"/>
            <a:ext cx="3886742" cy="2486372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426" y="1354746"/>
            <a:ext cx="3962953" cy="247684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Топ-</a:t>
            </a:r>
            <a:r>
              <a:rPr lang="ru-RU" dirty="0" smtClean="0"/>
              <a:t>признаки </a:t>
            </a:r>
            <a:r>
              <a:rPr lang="en-US" dirty="0" err="1" smtClean="0"/>
              <a:t>LogReg</a:t>
            </a:r>
            <a:r>
              <a:rPr lang="en-US" dirty="0" smtClean="0"/>
              <a:t> </a:t>
            </a:r>
            <a:r>
              <a:rPr lang="ru-RU" dirty="0" smtClean="0"/>
              <a:t>по категориям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037230" y="1514900"/>
            <a:ext cx="831090" cy="231400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5377218" y="1542196"/>
            <a:ext cx="746078" cy="231400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1037230" y="4122295"/>
            <a:ext cx="831090" cy="237040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404514" y="4140547"/>
            <a:ext cx="746078" cy="23521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815022" y="1322198"/>
            <a:ext cx="1172544" cy="21999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7210269" y="1303145"/>
            <a:ext cx="751639" cy="23905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8672594" y="3889706"/>
            <a:ext cx="478402" cy="232589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731204" y="3901496"/>
            <a:ext cx="621189" cy="23905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58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ComplementNB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23" y="1709741"/>
            <a:ext cx="3410426" cy="160042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241" y="1690688"/>
            <a:ext cx="3458058" cy="161947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514" y="3480275"/>
            <a:ext cx="4458322" cy="289600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769" y="3480275"/>
            <a:ext cx="4458322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32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KNeighborsClassifier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268" y="1581839"/>
            <a:ext cx="3410426" cy="161947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957" y="1581839"/>
            <a:ext cx="3391373" cy="158137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079" y="3382595"/>
            <a:ext cx="4467849" cy="289600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63542"/>
            <a:ext cx="4477375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7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RandomForest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11" y="1526309"/>
            <a:ext cx="3381847" cy="158137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546" y="1526309"/>
            <a:ext cx="3391373" cy="164805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230" y="3309593"/>
            <a:ext cx="4458322" cy="288647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15" y="3309593"/>
            <a:ext cx="4467849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5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GradientBoostingClassifier</a:t>
            </a:r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929" y="1638123"/>
            <a:ext cx="3410426" cy="15718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800" y="1638123"/>
            <a:ext cx="3391373" cy="158137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584" y="3427661"/>
            <a:ext cx="4448796" cy="289600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255" y="3427661"/>
            <a:ext cx="444879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0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4796</TotalTime>
  <Words>328</Words>
  <Application>Microsoft Office PowerPoint</Application>
  <PresentationFormat>Широкоэкранный</PresentationFormat>
  <Paragraphs>76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Тема Office</vt:lpstr>
      <vt:lpstr>Классификация  обращений пациентов</vt:lpstr>
      <vt:lpstr>Описание проекта</vt:lpstr>
      <vt:lpstr>Данные</vt:lpstr>
      <vt:lpstr>Подготовка данных</vt:lpstr>
      <vt:lpstr>Визуализация данных TSNE</vt:lpstr>
      <vt:lpstr>Использованные методы</vt:lpstr>
      <vt:lpstr>Результаты классификации 1, 2</vt:lpstr>
      <vt:lpstr>Результаты классификации 3, 4</vt:lpstr>
      <vt:lpstr>Результаты классификации 5, 6</vt:lpstr>
      <vt:lpstr>Выводы</vt:lpstr>
      <vt:lpstr>LogisticRegression</vt:lpstr>
      <vt:lpstr>Топ-признаки LogReg по категориям</vt:lpstr>
      <vt:lpstr>ComplementNB</vt:lpstr>
      <vt:lpstr>KNeighborsClassifier</vt:lpstr>
      <vt:lpstr>RandomForest</vt:lpstr>
      <vt:lpstr>GradientBoostingClassifier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239</cp:revision>
  <dcterms:created xsi:type="dcterms:W3CDTF">2026-01-28T00:05:45Z</dcterms:created>
  <dcterms:modified xsi:type="dcterms:W3CDTF">2026-02-21T00:35:08Z</dcterms:modified>
</cp:coreProperties>
</file>